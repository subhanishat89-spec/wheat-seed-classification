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A6669-E703-4E05-82CC-D791DA21B206}" v="3" dt="2026-04-19T19:07:27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biha Nasher" userId="4621082653794f86" providerId="LiveId" clId="{6DC8BEFE-3D1D-479C-91AF-EC8EF29CE154}"/>
    <pc:docChg chg="custSel modSld">
      <pc:chgData name="Nabiha Nasher" userId="4621082653794f86" providerId="LiveId" clId="{6DC8BEFE-3D1D-479C-91AF-EC8EF29CE154}" dt="2026-04-19T19:08:37.479" v="2" actId="478"/>
      <pc:docMkLst>
        <pc:docMk/>
      </pc:docMkLst>
      <pc:sldChg chg="delSp modSp mod">
        <pc:chgData name="Nabiha Nasher" userId="4621082653794f86" providerId="LiveId" clId="{6DC8BEFE-3D1D-479C-91AF-EC8EF29CE154}" dt="2026-04-19T19:08:37.479" v="2" actId="478"/>
        <pc:sldMkLst>
          <pc:docMk/>
          <pc:sldMk cId="0" sldId="265"/>
        </pc:sldMkLst>
        <pc:spChg chg="mod">
          <ac:chgData name="Nabiha Nasher" userId="4621082653794f86" providerId="LiveId" clId="{6DC8BEFE-3D1D-479C-91AF-EC8EF29CE154}" dt="2026-04-19T19:06:31.337" v="1" actId="20577"/>
          <ac:spMkLst>
            <pc:docMk/>
            <pc:sldMk cId="0" sldId="265"/>
            <ac:spMk id="8" creationId="{00000000-0000-0000-0000-000000000000}"/>
          </ac:spMkLst>
        </pc:spChg>
        <pc:spChg chg="del">
          <ac:chgData name="Nabiha Nasher" userId="4621082653794f86" providerId="LiveId" clId="{6DC8BEFE-3D1D-479C-91AF-EC8EF29CE154}" dt="2026-04-19T19:08:37.479" v="2" actId="478"/>
          <ac:spMkLst>
            <pc:docMk/>
            <pc:sldMk cId="0" sldId="265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103-4049-BEF4-2473F95C5632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03-4049-BEF4-2473F95C5632}"/>
              </c:ext>
            </c:extLst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03-4049-BEF4-2473F95C5632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03-4049-BEF4-2473F95C5632}"/>
              </c:ext>
            </c:extLst>
          </c:dPt>
          <c:dPt>
            <c:idx val="4"/>
            <c:invertIfNegative val="0"/>
            <c:bubble3D val="0"/>
            <c:spPr>
              <a:solidFill>
                <a:srgbClr val="065F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103-4049-BEF4-2473F95C563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EfficientNetB0</c:v>
                </c:pt>
                <c:pt idx="1">
                  <c:v>ResNet50</c:v>
                </c:pt>
                <c:pt idx="2">
                  <c:v>VGG16</c:v>
                </c:pt>
                <c:pt idx="3">
                  <c:v>Custom CNN</c:v>
                </c:pt>
                <c:pt idx="4">
                  <c:v>Attention CNN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33.33</c:v>
                </c:pt>
                <c:pt idx="1">
                  <c:v>47.62</c:v>
                </c:pt>
                <c:pt idx="2">
                  <c:v>55.65</c:v>
                </c:pt>
                <c:pt idx="3">
                  <c:v>77.680000000000007</c:v>
                </c:pt>
                <c:pt idx="4">
                  <c:v>78.13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03-4049-BEF4-2473F95C56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AUC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14-40F4-A9D9-187D90B04F1A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14-40F4-A9D9-187D90B04F1A}"/>
              </c:ext>
            </c:extLst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14-40F4-A9D9-187D90B04F1A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14-40F4-A9D9-187D90B04F1A}"/>
              </c:ext>
            </c:extLst>
          </c:dPt>
          <c:dPt>
            <c:idx val="4"/>
            <c:invertIfNegative val="0"/>
            <c:bubble3D val="0"/>
            <c:spPr>
              <a:solidFill>
                <a:srgbClr val="065F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14-40F4-A9D9-187D90B04F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EfficientNetB0</c:v>
                </c:pt>
                <c:pt idx="1">
                  <c:v>ResNet50</c:v>
                </c:pt>
                <c:pt idx="2">
                  <c:v>VGG16</c:v>
                </c:pt>
                <c:pt idx="3">
                  <c:v>Custom CNN</c:v>
                </c:pt>
                <c:pt idx="4">
                  <c:v>Attention CNN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0.58309999999999995</c:v>
                </c:pt>
                <c:pt idx="1">
                  <c:v>0.49659999999999999</c:v>
                </c:pt>
                <c:pt idx="2">
                  <c:v>0.79900000000000004</c:v>
                </c:pt>
                <c:pt idx="3">
                  <c:v>0.90200000000000002</c:v>
                </c:pt>
                <c:pt idx="4">
                  <c:v>0.91969999999999996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614-40F4-A9D9-187D90B04F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19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bhanishat89-spec/wheat-seed-classifica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457200"/>
            <a:ext cx="1645920" cy="1645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02780" y="365760"/>
            <a:ext cx="1905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🌾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Seeds Classification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34054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CNN Architectures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5854" y="1980622"/>
            <a:ext cx="6400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8229600" cy="1404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CSE366 — Artificial Intelligence
</a:t>
            </a: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Raihan Ul Islam</a:t>
            </a:r>
          </a:p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Associate Professor </a:t>
            </a:r>
          </a:p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Department of Computer Science and Engineering</a:t>
            </a:r>
          </a:p>
          <a:p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West University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</p:txBody>
      </p:sp>
      <p:sp>
        <p:nvSpPr>
          <p:cNvPr id="9" name="Text 7"/>
          <p:cNvSpPr/>
          <p:nvPr/>
        </p:nvSpPr>
        <p:spPr>
          <a:xfrm>
            <a:off x="314708" y="3761423"/>
            <a:ext cx="8412480" cy="28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Nishat Subha Mithela   •   Nabiha Binte Nasher   •   Kaniz Fatema Tuli   •   Jannatul Ferdous Shanta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51B0D-8824-B6F5-2186-925DD2A29ABB}"/>
              </a:ext>
            </a:extLst>
          </p:cNvPr>
          <p:cNvSpPr txBox="1"/>
          <p:nvPr/>
        </p:nvSpPr>
        <p:spPr>
          <a:xfrm>
            <a:off x="779538" y="4032766"/>
            <a:ext cx="160172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ID: 2023-1-60-248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741004-99F5-2CE8-F1D5-066D65E94226}"/>
              </a:ext>
            </a:extLst>
          </p:cNvPr>
          <p:cNvSpPr txBox="1"/>
          <p:nvPr/>
        </p:nvSpPr>
        <p:spPr>
          <a:xfrm>
            <a:off x="2714248" y="4004221"/>
            <a:ext cx="1601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ID: 2023-1-60-176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43A66-B25C-76DF-37AF-3FA7B1662D10}"/>
              </a:ext>
            </a:extLst>
          </p:cNvPr>
          <p:cNvSpPr txBox="1"/>
          <p:nvPr/>
        </p:nvSpPr>
        <p:spPr>
          <a:xfrm>
            <a:off x="4572000" y="4011841"/>
            <a:ext cx="160171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ID: 2023-1-60-192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6DDD41-BDD6-B059-2327-CCAD6C4B277C}"/>
              </a:ext>
            </a:extLst>
          </p:cNvPr>
          <p:cNvSpPr txBox="1"/>
          <p:nvPr/>
        </p:nvSpPr>
        <p:spPr>
          <a:xfrm>
            <a:off x="6369233" y="4002138"/>
            <a:ext cx="160171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ID: 2023-1-60-167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0E61F-6A8A-4CC4-88AB-CEA65BAB36C1}"/>
              </a:ext>
            </a:extLst>
          </p:cNvPr>
          <p:cNvSpPr txBox="1"/>
          <p:nvPr/>
        </p:nvSpPr>
        <p:spPr>
          <a:xfrm>
            <a:off x="3308032" y="4400907"/>
            <a:ext cx="252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Spring 2026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56032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RGB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56032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Varieties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56032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914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Images/Class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841248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Data — High-resolution RGB images of wheat seeds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5D Mark III under controlled lighting &amp; black background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  |  10% Validation  |  20% Testing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64 pixels (resized)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Images from Each Class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2194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3611880"/>
            <a:ext cx="1371600" cy="9601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4617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48280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Rounded, light-yellow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566160" y="3566160"/>
            <a:ext cx="2194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77640" y="3611880"/>
            <a:ext cx="1371600" cy="9601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566160" y="4617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Dilkash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566160" y="48280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Elongated, tan-brown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400800" y="3566160"/>
            <a:ext cx="2194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12280" y="3611880"/>
            <a:ext cx="1371600" cy="9601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00800" y="4617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Urooj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400800" y="48280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Oval, pale-golden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630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(375 images)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37160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7452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14630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9144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Augmentation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914400"/>
            <a:ext cx="14630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9144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37160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924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914400"/>
            <a:ext cx="1463040" cy="914400"/>
          </a:xfrm>
          <a:prstGeom prst="rect">
            <a:avLst/>
          </a:prstGeom>
          <a:solidFill>
            <a:srgbClr val="0A7566"/>
          </a:solidFill>
          <a:ln w="12700">
            <a:solidFill>
              <a:srgbClr val="0A7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0" y="9144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Metrics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8660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23760" y="914400"/>
            <a:ext cx="14630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0" y="9144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011680"/>
            <a:ext cx="85039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011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Trained &amp; Compared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2331720"/>
            <a:ext cx="1554480" cy="100584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15544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29077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29968" y="2331720"/>
            <a:ext cx="1554480" cy="100584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29968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29968" y="2880360"/>
            <a:ext cx="15544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29968" y="29077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39896" y="2331720"/>
            <a:ext cx="1554480" cy="100584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39896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39896" y="2880360"/>
            <a:ext cx="15544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39896" y="29077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9824" y="2331720"/>
            <a:ext cx="15544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49824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49824" y="2880360"/>
            <a:ext cx="15544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49824" y="29077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59752" y="2331720"/>
            <a:ext cx="1554480" cy="1005840"/>
          </a:xfrm>
          <a:prstGeom prst="rect">
            <a:avLst/>
          </a:prstGeom>
          <a:solidFill>
            <a:srgbClr val="0A7566"/>
          </a:solidFill>
          <a:ln w="12700">
            <a:solidFill>
              <a:srgbClr val="0A7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59752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CNN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59752" y="2880360"/>
            <a:ext cx="15544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59752" y="29077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Block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474720"/>
            <a:ext cx="850392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349300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Accuracy  •  Precision  •  Recall  •  F1-score  •  AUC  •  ROC Curve  •  Confusion Matrix  •  Paired t-test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" y="38404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Applied: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 •  Rotation ±20°  •  Zoom ±15%  •  Brightness ±20%  •  Width/Height Shift ±10%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251960"/>
            <a:ext cx="41148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59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4297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(Task 2)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 → Freeze base → Fine-tune head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4251960"/>
            <a:ext cx="41148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54880" y="4297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(Tasks 3 &amp; 4)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architecture + SE Attention Block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Applied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65176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Pre-trained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scaled CNN. ImageNet pre-trained. Base frozen, custom head added.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 params  •  lr=0.0001  •  Adam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651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51760" cy="2286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2801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Pre-trained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57276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50-layer residual network with skip connections. ImageNet pre-trained.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25.6M params  •  lr=0.0001  •  Adam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914400"/>
            <a:ext cx="265176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280160"/>
            <a:ext cx="265176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12801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Pre-trained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57276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sequential 16-layer CNN. ImageNet pre-trained. Best among Task 2.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138M params  •  lr=0.0001  •  Adam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2651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291840"/>
            <a:ext cx="2651760" cy="2286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2918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From Scratch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5844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[Conv→BN→ReLU→MaxPool] + Dense(256) + Dropout(0.5). Trained from scratch with augmentation.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343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input  •  lr=0.0001  •  EarlyStopping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9260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46120" y="2926080"/>
            <a:ext cx="2651760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461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CNN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46120" y="3291840"/>
            <a:ext cx="2651760" cy="2286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46120" y="32918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SE Block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35844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+ Squeeze-and-Excitation (SE) blocks for channel-wise attention.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4343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ratio=8  •  64×64  •  EarlyStopping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Batch Size=16  •  Max Epochs=60  •  Optimizer=Adam  •  Loss=Categorical Cross-Entropy  •  Split=70/10/20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26700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CNN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97680"/>
            <a:ext cx="41148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36576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Model: Attention CNN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78.13%  •  AUC 0.9197  •  F1 0.7768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4297680"/>
            <a:ext cx="41148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Improvement over VGG16 (best pre-trained)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+22.48% accuracy  •  +0.1207 AUC  •  +0.2258 F1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577840" y="822960"/>
          <a:ext cx="32918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CNN achieves highest accuracy (78.13%) and AUC (0.9197) among all 5 models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Custom CNN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420624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Attention CNN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88720"/>
            <a:ext cx="4206240" cy="2286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566160"/>
            <a:ext cx="8503920" cy="1417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391363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decreases steadily in both models — learning is happening correctly
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initially high then decreases — small dataset causes instability (only ~25 val images)
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reaches ~60-75% — reasonable given only 375 total images
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with patience=10 prevents severe overfitting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 |  Accuracy: 77.68%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07008"/>
            <a:ext cx="41148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CNN  |  Accuracy: 78.13%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207008"/>
            <a:ext cx="4114800" cy="2926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224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CNN: Akbar=97.3% ✓  |  Dilkash=45.3% (confused with Urooj)  |  Urooj=91.9% ✓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63440" y="4224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CNN: Akbar=93.2% ✓  |  Dilkash=52.0% (still hardest)  |  Urooj=90.5% ✓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626864"/>
            <a:ext cx="850392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6576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Dilkash is the hardest class — frequently confused with Urooj due to similar elongated shape in both models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716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Attention CNN Outperforms Others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60198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757428"/>
            <a:ext cx="530352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8031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Block (Squeeze-and-Excitation Attention)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1231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 → Reshape → Dense(filters/8, ReLU) → Dense(filters, Sigmoid) → Channel-wise Multiply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5346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Recalibrates feature maps — tells the model WHICH channels matter most for classification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42432" y="757428"/>
            <a:ext cx="301752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42432" y="8031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Best Pre-trained (VGG16)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09575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+22.5%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
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+22.6%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
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+12.1%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12902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2129028"/>
            <a:ext cx="10972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021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Channel Attention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5222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blocks learn to weight important feature channels — e.g., focusing on texture &amp; color channels that differ between Akbar, Dilkash, and Urooj.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5152" y="212902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45152" y="2129028"/>
            <a:ext cx="91442" cy="1170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2021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Trained from Scratch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5222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 (ResNet, VGG, EfficientNet) were trained on ImageNet (objects, not seeds). Custom models learn wheat-specific features directly.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45490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3454908"/>
            <a:ext cx="109728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280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Right-Sized Architecture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" y="3797808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input + 3 conv blocks is appropriately scaled for 375 images. Pre-trained models with 224×224 and millions of params overfit on such small data.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26864" y="3450336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45150" y="3450336"/>
            <a:ext cx="91442" cy="10515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28032" y="35234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Augmentation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3774948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3 &amp; 4 apply 6 augmentation techniques (flip, rotation, zoom, shift, brightness). Pre-trained models in Task 2 had no augmentation.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634484"/>
            <a:ext cx="8503920" cy="449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4698492"/>
            <a:ext cx="832104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Attention CNN is the best model — combining the right architecture size, SE attention, and augmentation for this small wheat seed dataset.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749040" y="3657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🌾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Seeds Classification — CSE366 AI Mini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88036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https://github.com/subhanishat89-spec/wheat-seed-classification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964</Words>
  <Application>Microsoft Office PowerPoint</Application>
  <PresentationFormat>On-screen Show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Wheat Seeds Classification — CSE366 AI Project</dc:title>
  <dc:subject>PptxGenJS Presentation</dc:subject>
  <dc:creator>PptxGenJS</dc:creator>
  <cp:lastModifiedBy>Nabiha Nasher</cp:lastModifiedBy>
  <cp:revision>2</cp:revision>
  <dcterms:created xsi:type="dcterms:W3CDTF">2026-04-18T16:44:10Z</dcterms:created>
  <dcterms:modified xsi:type="dcterms:W3CDTF">2026-04-19T19:08:48Z</dcterms:modified>
</cp:coreProperties>
</file>
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4" d="100"/>
          <a:sy n="84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2A4A"/>
                </a:solidFill>
                <a:latin typeface="Arial"/>
              </a:defRPr>
            </a:pPr>
            <a:r>
              <a:rPr lang="en-US" sz="1300" b="0" i="0" u="none" strike="noStrike">
                <a:solidFill>
                  <a:srgbClr val="1B2A4A"/>
                </a:solidFill>
                <a:latin typeface="Arial"/>
              </a:rPr>
              <a:t>Accuracy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 (%)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7103-4049-BEF4-2473F95C5632}"/>
              </c:ext>
            </c:extLst>
          </c:dPt>
          <c:dPt>
            <c:idx val="1"/>
            <c:invertIfNegative val="0"/>
            <c:bubble3D val="0"/>
            <c:spPr>
              <a:solidFill>
                <a:srgbClr val="7C3AE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7103-4049-BEF4-2473F95C5632}"/>
              </c:ext>
            </c:extLst>
          </c:dPt>
          <c:dPt>
            <c:idx val="2"/>
            <c:invertIfNegative val="0"/>
            <c:bubble3D val="0"/>
            <c:spPr>
              <a:solidFill>
                <a:srgbClr val="0369A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7103-4049-BEF4-2473F95C5632}"/>
              </c:ext>
            </c:extLst>
          </c:dPt>
          <c:dPt>
            <c:idx val="3"/>
            <c:invertIfNegative val="0"/>
            <c:bubble3D val="0"/>
            <c:spPr>
              <a:solidFill>
                <a:srgbClr val="0D948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7103-4049-BEF4-2473F95C5632}"/>
              </c:ext>
            </c:extLst>
          </c:dPt>
          <c:dPt>
            <c:idx val="4"/>
            <c:invertIfNegative val="0"/>
            <c:bubble3D val="0"/>
            <c:spPr>
              <a:solidFill>
                <a:srgbClr val="065F4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7103-4049-BEF4-2473F95C5632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EfficientNetB0</c:v>
                </c:pt>
                <c:pt idx="1">
                  <c:v>ResNet50</c:v>
                </c:pt>
                <c:pt idx="2">
                  <c:v>VGG16</c:v>
                </c:pt>
                <c:pt idx="3">
                  <c:v>Custom CNN</c:v>
                </c:pt>
                <c:pt idx="4">
                  <c:v>Attention CNN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33.33</c:v>
                </c:pt>
                <c:pt idx="1">
                  <c:v>47.62</c:v>
                </c:pt>
                <c:pt idx="2">
                  <c:v>55.65</c:v>
                </c:pt>
                <c:pt idx="3">
                  <c:v>77.680000000000007</c:v>
                </c:pt>
                <c:pt idx="4">
                  <c:v>78.13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7103-4049-BEF4-2473F95C563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E293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2A4A"/>
                </a:solidFill>
                <a:latin typeface="Arial"/>
              </a:defRPr>
            </a:pPr>
            <a:r>
              <a:rPr lang="en-US" sz="1300" b="0" i="0" u="none" strike="noStrike">
                <a:solidFill>
                  <a:srgbClr val="1B2A4A"/>
                </a:solidFill>
                <a:latin typeface="Arial"/>
              </a:rPr>
              <a:t>AUC Score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AUC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1614-40F4-A9D9-187D90B04F1A}"/>
              </c:ext>
            </c:extLst>
          </c:dPt>
          <c:dPt>
            <c:idx val="1"/>
            <c:invertIfNegative val="0"/>
            <c:bubble3D val="0"/>
            <c:spPr>
              <a:solidFill>
                <a:srgbClr val="7C3AE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1614-40F4-A9D9-187D90B04F1A}"/>
              </c:ext>
            </c:extLst>
          </c:dPt>
          <c:dPt>
            <c:idx val="2"/>
            <c:invertIfNegative val="0"/>
            <c:bubble3D val="0"/>
            <c:spPr>
              <a:solidFill>
                <a:srgbClr val="0369A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1614-40F4-A9D9-187D90B04F1A}"/>
              </c:ext>
            </c:extLst>
          </c:dPt>
          <c:dPt>
            <c:idx val="3"/>
            <c:invertIfNegative val="0"/>
            <c:bubble3D val="0"/>
            <c:spPr>
              <a:solidFill>
                <a:srgbClr val="0D948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1614-40F4-A9D9-187D90B04F1A}"/>
              </c:ext>
            </c:extLst>
          </c:dPt>
          <c:dPt>
            <c:idx val="4"/>
            <c:invertIfNegative val="0"/>
            <c:bubble3D val="0"/>
            <c:spPr>
              <a:solidFill>
                <a:srgbClr val="065F4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1614-40F4-A9D9-187D90B04F1A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EfficientNetB0</c:v>
                </c:pt>
                <c:pt idx="1">
                  <c:v>ResNet50</c:v>
                </c:pt>
                <c:pt idx="2">
                  <c:v>VGG16</c:v>
                </c:pt>
                <c:pt idx="3">
                  <c:v>Custom CNN</c:v>
                </c:pt>
                <c:pt idx="4">
                  <c:v>Attention CNN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0.58309999999999995</c:v>
                </c:pt>
                <c:pt idx="1">
                  <c:v>0.49659999999999999</c:v>
                </c:pt>
                <c:pt idx="2">
                  <c:v>0.79900000000000004</c:v>
                </c:pt>
                <c:pt idx="3">
                  <c:v>0.90200000000000002</c:v>
                </c:pt>
                <c:pt idx="4">
                  <c:v>0.91969999999999996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1614-40F4-A9D9-187D90B04F1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E293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101983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jpeg"/><Relationship Id="rId4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132320" y="457200"/>
            <a:ext cx="1645920" cy="16459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002780" y="365760"/>
            <a:ext cx="19050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dirty="0">
                <a:solidFill>
                  <a:srgbClr val="000000"/>
                </a:solidFill>
              </a:rPr>
              <a:t>🌾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365760" y="502920"/>
            <a:ext cx="6400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Wheat Seeds Classification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365760" y="1340542"/>
            <a:ext cx="6858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CNN Architectures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55854" y="1980622"/>
            <a:ext cx="640080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65760" y="2194560"/>
            <a:ext cx="8229600" cy="1404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Course: </a:t>
            </a: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CSE366 — Artificial Intelligence
</a:t>
            </a:r>
            <a:r>
              <a:rPr lang="en-US" sz="1400" b="1" dirty="0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Instructor: </a:t>
            </a: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Raihan Ul Islam</a:t>
            </a:r>
          </a:p>
          <a:p>
            <a:r>
              <a:rPr lang="en-US" sz="1400" dirty="0">
                <a:solidFill>
                  <a:schemeClr val="bg1">
                    <a:lumMod val="95000"/>
                  </a:schemeClr>
                </a:solidFill>
              </a:rPr>
              <a:t>Associate Professor </a:t>
            </a:r>
          </a:p>
          <a:p>
            <a:r>
              <a:rPr lang="en-US" sz="1400" dirty="0">
                <a:solidFill>
                  <a:schemeClr val="bg1">
                    <a:lumMod val="95000"/>
                  </a:schemeClr>
                </a:solidFill>
              </a:rPr>
              <a:t>Department of Computer Science and Engineering</a:t>
            </a:r>
          </a:p>
          <a:p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West University  </a:t>
            </a:r>
            <a:r>
              <a:rPr lang="en-US" sz="1400" dirty="0">
                <a:solidFill>
                  <a:schemeClr val="bg1">
                    <a:lumMod val="9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</a:p>
        </p:txBody>
      </p:sp>
      <p:sp>
        <p:nvSpPr>
          <p:cNvPr id="9" name="Text 7"/>
          <p:cNvSpPr/>
          <p:nvPr/>
        </p:nvSpPr>
        <p:spPr>
          <a:xfrm>
            <a:off x="314708" y="3761423"/>
            <a:ext cx="8412480" cy="289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i="1" dirty="0">
                <a:solidFill>
                  <a:schemeClr val="accent6">
                    <a:lumMod val="40000"/>
                    <a:lumOff val="6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Nishat Subha Mithela   •   Nabiha Binte Nasher   •   Kaniz Fatema Tuli   •   Jannatul Ferdous Shanta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8951B0D-8824-B6F5-2186-925DD2A29ABB}"/>
              </a:ext>
            </a:extLst>
          </p:cNvPr>
          <p:cNvSpPr txBox="1"/>
          <p:nvPr/>
        </p:nvSpPr>
        <p:spPr>
          <a:xfrm>
            <a:off x="779538" y="4032766"/>
            <a:ext cx="1601721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500" i="1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ID: 2023-1-60-248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C741004-99F5-2CE8-F1D5-066D65E94226}"/>
              </a:ext>
            </a:extLst>
          </p:cNvPr>
          <p:cNvSpPr txBox="1"/>
          <p:nvPr/>
        </p:nvSpPr>
        <p:spPr>
          <a:xfrm>
            <a:off x="2714248" y="4004221"/>
            <a:ext cx="160172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500" i="1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ID: 2023-1-60-176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8243A66-B25C-76DF-37AF-3FA7B1662D10}"/>
              </a:ext>
            </a:extLst>
          </p:cNvPr>
          <p:cNvSpPr txBox="1"/>
          <p:nvPr/>
        </p:nvSpPr>
        <p:spPr>
          <a:xfrm>
            <a:off x="4572000" y="4011841"/>
            <a:ext cx="1601719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500" i="1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ID: 2023-1-60-192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F6DDD41-BDD6-B059-2327-CCAD6C4B277C}"/>
              </a:ext>
            </a:extLst>
          </p:cNvPr>
          <p:cNvSpPr txBox="1"/>
          <p:nvPr/>
        </p:nvSpPr>
        <p:spPr>
          <a:xfrm>
            <a:off x="6369233" y="4002138"/>
            <a:ext cx="1601718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500" i="1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ID: 2023-1-60-167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240E61F-6A8A-4CC4-88AB-CEA65BAB36C1}"/>
              </a:ext>
            </a:extLst>
          </p:cNvPr>
          <p:cNvSpPr txBox="1"/>
          <p:nvPr/>
        </p:nvSpPr>
        <p:spPr>
          <a:xfrm>
            <a:off x="3308032" y="4400907"/>
            <a:ext cx="252793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>
                <a:solidFill>
                  <a:schemeClr val="bg1">
                    <a:lumMod val="9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No: </a:t>
            </a:r>
            <a:r>
              <a:rPr lang="en-US" sz="1600" dirty="0">
                <a:solidFill>
                  <a:schemeClr val="bg1">
                    <a:lumMod val="9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| Spring 2026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Overview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13232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65760" y="868680"/>
            <a:ext cx="2560320" cy="11887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65760" y="91440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375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Images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178308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High-resolution RGB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00400" y="868680"/>
            <a:ext cx="2560320" cy="11887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200400" y="91440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3200400" y="150876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200400" y="178308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Wheat Varieties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35040" y="868680"/>
            <a:ext cx="2560320" cy="11887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035040" y="91440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125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6035040" y="150876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Images/Class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035040" y="178308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Balanced Dataset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2148840"/>
            <a:ext cx="8412480" cy="914400"/>
          </a:xfrm>
          <a:prstGeom prst="rect">
            <a:avLst/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48640" y="224028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Mendeley Data — High-resolution RGB images of wheat seeds  </a:t>
            </a: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|  </a:t>
            </a: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Captured: 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Canon 5D Mark III under controlled lighting &amp; black background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265176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Split: 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 Training  |  10% Validation  |  20% Testing  </a:t>
            </a: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|  </a:t>
            </a: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Size: 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× 64 pixels (resized)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65760" y="3200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Images from Each Class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31520" y="3566160"/>
            <a:ext cx="21945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1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143000" y="3611880"/>
            <a:ext cx="1371600" cy="960120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731520" y="4617720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Akbar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731520" y="4828032"/>
            <a:ext cx="2194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Rounded, light-yellow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3566160" y="3566160"/>
            <a:ext cx="21945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5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3977640" y="3611880"/>
            <a:ext cx="1371600" cy="960120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3566160" y="4617720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Dilkash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3566160" y="4828032"/>
            <a:ext cx="2194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Elongated, tan-brown</a:t>
            </a:r>
            <a:endParaRPr lang="en-US" sz="900" dirty="0"/>
          </a:p>
        </p:txBody>
      </p:sp>
      <p:sp>
        <p:nvSpPr>
          <p:cNvPr id="28" name="Shape 24"/>
          <p:cNvSpPr/>
          <p:nvPr/>
        </p:nvSpPr>
        <p:spPr>
          <a:xfrm>
            <a:off x="6400800" y="3566160"/>
            <a:ext cx="21945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9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812280" y="3611880"/>
            <a:ext cx="1371600" cy="960120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6400800" y="4617720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Urooj</a:t>
            </a:r>
            <a:endParaRPr lang="en-US" sz="1200" dirty="0"/>
          </a:p>
        </p:txBody>
      </p:sp>
      <p:sp>
        <p:nvSpPr>
          <p:cNvPr id="31" name="Text 26"/>
          <p:cNvSpPr/>
          <p:nvPr/>
        </p:nvSpPr>
        <p:spPr>
          <a:xfrm>
            <a:off x="6400800" y="4828032"/>
            <a:ext cx="2194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Oval, pale-golden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Methodology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13232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1463040" cy="9144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74320" y="914400"/>
            <a:ext cx="1463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(375 images)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737360" y="1371600"/>
            <a:ext cx="274320" cy="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874520" y="123444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D9488"/>
                </a:solidFill>
              </a:rPr>
              <a:t>▶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011680" y="914400"/>
            <a:ext cx="1463040" cy="91440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011680" y="914400"/>
            <a:ext cx="1463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Augmentation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474720" y="1371600"/>
            <a:ext cx="274320" cy="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611880" y="123444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D9488"/>
                </a:solidFill>
              </a:rPr>
              <a:t>▶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749040" y="914400"/>
            <a:ext cx="1463040" cy="9144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749040" y="914400"/>
            <a:ext cx="1463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212080" y="1371600"/>
            <a:ext cx="274320" cy="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349240" y="123444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D9488"/>
                </a:solidFill>
              </a:rPr>
              <a:t>▶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0" y="914400"/>
            <a:ext cx="1463040" cy="914400"/>
          </a:xfrm>
          <a:prstGeom prst="rect">
            <a:avLst/>
          </a:prstGeom>
          <a:solidFill>
            <a:srgbClr val="0A7566"/>
          </a:solidFill>
          <a:ln w="12700">
            <a:solidFill>
              <a:srgbClr val="0A7566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486400" y="914400"/>
            <a:ext cx="1463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Metrics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949440" y="1371600"/>
            <a:ext cx="274320" cy="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7086600" y="123444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D9488"/>
                </a:solidFill>
              </a:rPr>
              <a:t>▶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223760" y="914400"/>
            <a:ext cx="1463040" cy="9144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223760" y="914400"/>
            <a:ext cx="1463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Model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74320" y="2011680"/>
            <a:ext cx="8503920" cy="2743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274320" y="2011680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Models Trained &amp; Compared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20040" y="2331720"/>
            <a:ext cx="1554480" cy="1005840"/>
          </a:xfrm>
          <a:prstGeom prst="rect">
            <a:avLst/>
          </a:prstGeom>
          <a:solidFill>
            <a:srgbClr val="3B5998"/>
          </a:solidFill>
          <a:ln w="12700">
            <a:solidFill>
              <a:srgbClr val="3B5998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320040" y="2377440"/>
            <a:ext cx="1554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EfficientNetB0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20040" y="2880360"/>
            <a:ext cx="1554480" cy="2743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320040" y="290779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Pre-trained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029968" y="2331720"/>
            <a:ext cx="1554480" cy="1005840"/>
          </a:xfrm>
          <a:prstGeom prst="rect">
            <a:avLst/>
          </a:prstGeom>
          <a:solidFill>
            <a:srgbClr val="3B5998"/>
          </a:solidFill>
          <a:ln w="12700">
            <a:solidFill>
              <a:srgbClr val="3B5998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2029968" y="2377440"/>
            <a:ext cx="1554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ResNet50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2029968" y="2880360"/>
            <a:ext cx="1554480" cy="2743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2029968" y="290779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Pre-trained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739896" y="2331720"/>
            <a:ext cx="1554480" cy="1005840"/>
          </a:xfrm>
          <a:prstGeom prst="rect">
            <a:avLst/>
          </a:prstGeom>
          <a:solidFill>
            <a:srgbClr val="3B5998"/>
          </a:solidFill>
          <a:ln w="12700">
            <a:solidFill>
              <a:srgbClr val="3B5998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3739896" y="2377440"/>
            <a:ext cx="1554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VGG16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739896" y="2880360"/>
            <a:ext cx="1554480" cy="2743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3739896" y="290779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Pre-trained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449824" y="2331720"/>
            <a:ext cx="1554480" cy="10058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5449824" y="2377440"/>
            <a:ext cx="1554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CNN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5449824" y="2880360"/>
            <a:ext cx="1554480" cy="2743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5449824" y="290779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Scratch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7159752" y="2331720"/>
            <a:ext cx="1554480" cy="1005840"/>
          </a:xfrm>
          <a:prstGeom prst="rect">
            <a:avLst/>
          </a:prstGeom>
          <a:solidFill>
            <a:srgbClr val="0A7566"/>
          </a:solidFill>
          <a:ln w="12700">
            <a:solidFill>
              <a:srgbClr val="0A7566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7159752" y="2377440"/>
            <a:ext cx="1554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 CNN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7159752" y="2880360"/>
            <a:ext cx="1554480" cy="2743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7159752" y="290779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Block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74320" y="3474720"/>
            <a:ext cx="8503920" cy="256032"/>
          </a:xfrm>
          <a:prstGeom prst="rect">
            <a:avLst/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274320" y="3493008"/>
            <a:ext cx="8503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Metrics: Accuracy  •  Precision  •  Recall  •  F1-score  •  AUC  •  ROC Curve  •  Confusion Matrix  •  Paired t-test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274320" y="3840480"/>
            <a:ext cx="8503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Augmentation Applied: </a:t>
            </a: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Flip  •  Rotation ±20°  •  Zoom ±15%  •  Brightness ±20%  •  Width/Height Shift ±10%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274320" y="4251960"/>
            <a:ext cx="4114800" cy="640080"/>
          </a:xfrm>
          <a:prstGeom prst="rect">
            <a:avLst/>
          </a:prstGeom>
          <a:solidFill>
            <a:srgbClr val="EFF6FF"/>
          </a:solidFill>
          <a:ln w="12700">
            <a:solidFill>
              <a:srgbClr val="3B599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365760" y="4297680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B59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Learning (Task 2)
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ImageNet weights → Freeze base → Fine-tune head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4663440" y="4251960"/>
            <a:ext cx="4114800" cy="640080"/>
          </a:xfrm>
          <a:prstGeom prst="rect">
            <a:avLst/>
          </a:prstGeom>
          <a:solidFill>
            <a:srgbClr val="F0FDF4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4754880" y="4297680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Scratch (Tasks 3 &amp; 4)
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architecture + SE Attention Block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Applied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13232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26517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914400"/>
            <a:ext cx="2651760" cy="36576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9144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EfficientNetB0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20040" y="1280160"/>
            <a:ext cx="2651760" cy="22860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20040" y="1280160"/>
            <a:ext cx="2651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i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2 — Pre-trained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11480" y="1572768"/>
            <a:ext cx="2468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 scaled CNN. ImageNet pre-trained. Base frozen, custom head added.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11480" y="233172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5.3M params  •  lr=0.0001  •  Adam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46120" y="914400"/>
            <a:ext cx="26517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246120" y="914400"/>
            <a:ext cx="2651760" cy="3657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246120" y="9144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ResNet50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246120" y="1280160"/>
            <a:ext cx="2651760" cy="228600"/>
          </a:xfrm>
          <a:prstGeom prst="rect">
            <a:avLst/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246120" y="1280160"/>
            <a:ext cx="2651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i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2 — Pre-trained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337560" y="1572768"/>
            <a:ext cx="2468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50-layer residual network with skip connections. ImageNet pre-trained.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337560" y="233172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25.6M params  •  lr=0.0001  •  Adam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172200" y="914400"/>
            <a:ext cx="26517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172200" y="914400"/>
            <a:ext cx="2651760" cy="36576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172200" y="91440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VGG16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172200" y="1280160"/>
            <a:ext cx="2651760" cy="228600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172200" y="1280160"/>
            <a:ext cx="2651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i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2 — Pre-trained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572768"/>
            <a:ext cx="2468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sequential 16-layer CNN. ImageNet pre-trained. Best among Task 2.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263640" y="233172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138M params  •  lr=0.0001  •  Adam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20040" y="2926080"/>
            <a:ext cx="26517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320040" y="2926080"/>
            <a:ext cx="2651760" cy="3657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320040" y="292608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CNN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20040" y="3291840"/>
            <a:ext cx="2651760" cy="228600"/>
          </a:xfrm>
          <a:prstGeom prst="rect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320040" y="3291840"/>
            <a:ext cx="2651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3 — From Scratch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11480" y="3584448"/>
            <a:ext cx="2468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3× [Conv→BN→ReLU→MaxPool] + Dense(256) + Dropout(0.5). Trained from scratch with augmentation.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11480" y="434340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64×64 input  •  lr=0.0001  •  EarlyStopping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246120" y="2926080"/>
            <a:ext cx="26517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3246120" y="2926080"/>
            <a:ext cx="2651760" cy="365760"/>
          </a:xfrm>
          <a:prstGeom prst="rect">
            <a:avLst/>
          </a:prstGeom>
          <a:solidFill>
            <a:srgbClr val="065F46"/>
          </a:solidFill>
          <a:ln w="12700">
            <a:solidFill>
              <a:srgbClr val="065F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3246120" y="292608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 CNN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46120" y="3291840"/>
            <a:ext cx="2651760" cy="228600"/>
          </a:xfrm>
          <a:prstGeom prst="rect">
            <a:avLst/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3246120" y="3291840"/>
            <a:ext cx="2651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i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4 — SE Block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337560" y="3584448"/>
            <a:ext cx="2468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CNN + Squeeze-and-Excitation (SE) blocks for channel-wise attention.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3337560" y="434340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ratio=8  •  64×64  •  EarlyStopping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20040" y="4617720"/>
            <a:ext cx="8503920" cy="347472"/>
          </a:xfrm>
          <a:prstGeom prst="rect">
            <a:avLst/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320040" y="4663440"/>
            <a:ext cx="8503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models: Batch Size=16  •  Max Epochs=60  •  Optimizer=Adam  •  Loss=Categorical Cross-Entropy  •  Split=70/10/20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Summary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13232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868680"/>
          <a:ext cx="8595360" cy="2670048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F1-score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 Time (s)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EfficientNetB0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33.33%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0.5831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727.5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ResNet50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0.4966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1036.8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VGG16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55.65%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0.6759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0.7990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783.0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 CNN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77.68%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0.8184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0.7768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715.2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Attention CNN ★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0.8146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0.7813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0.7768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0.9197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508.1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274320" y="4297680"/>
            <a:ext cx="4114800" cy="640080"/>
          </a:xfrm>
          <a:prstGeom prst="rect">
            <a:avLst/>
          </a:prstGeom>
          <a:solidFill>
            <a:srgbClr val="F0FDF4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3"/>
          <p:cNvSpPr/>
          <p:nvPr/>
        </p:nvSpPr>
        <p:spPr>
          <a:xfrm>
            <a:off x="365760" y="4343400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 Best Model: Attention CNN
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78.13%  •  AUC 0.9197  •  F1 0.7768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663440" y="4297680"/>
            <a:ext cx="4114800" cy="640080"/>
          </a:xfrm>
          <a:prstGeom prst="rect">
            <a:avLst/>
          </a:prstGeom>
          <a:solidFill>
            <a:srgbClr val="FFF7ED"/>
          </a:solidFill>
          <a:ln w="12700">
            <a:solidFill>
              <a:srgbClr val="F59E0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4754880" y="4343400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 Improvement over VGG16 (best pre-trained)
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+22.48% accuracy  •  +0.1207 AUC  •  +0.2258 F1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Performance Comparison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13232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4" name="Chart 0"/>
          <p:cNvGraphicFramePr/>
          <p:nvPr/>
        </p:nvGraphicFramePr>
        <p:xfrm>
          <a:off x="365760" y="822960"/>
          <a:ext cx="5029200" cy="3840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5" name="Chart 1"/>
          <p:cNvGraphicFramePr/>
          <p:nvPr/>
        </p:nvGraphicFramePr>
        <p:xfrm>
          <a:off x="5577840" y="822960"/>
          <a:ext cx="3291840" cy="3840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Text 2"/>
          <p:cNvSpPr/>
          <p:nvPr/>
        </p:nvSpPr>
        <p:spPr>
          <a:xfrm>
            <a:off x="365760" y="47548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 CNN achieves highest accuracy (78.13%) and AUC (0.9197) among all 5 models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History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13232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4206240" cy="3200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74320" y="86868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3 — Custom CNN</a:t>
            </a:r>
            <a:endParaRPr lang="en-US" sz="12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74320" y="1188720"/>
            <a:ext cx="4206240" cy="22860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663440" y="868680"/>
            <a:ext cx="4206240" cy="320040"/>
          </a:xfrm>
          <a:prstGeom prst="rect">
            <a:avLst/>
          </a:prstGeom>
          <a:solidFill>
            <a:srgbClr val="065F46"/>
          </a:solidFill>
          <a:ln w="12700">
            <a:solidFill>
              <a:srgbClr val="065F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4663440" y="86868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4 — Attention CNN</a:t>
            </a:r>
            <a:endParaRPr lang="en-US" sz="120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63440" y="1188720"/>
            <a:ext cx="4206240" cy="22860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274320" y="3566160"/>
            <a:ext cx="8503920" cy="1417320"/>
          </a:xfrm>
          <a:prstGeom prst="rect">
            <a:avLst/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7"/>
          <p:cNvSpPr/>
          <p:nvPr/>
        </p:nvSpPr>
        <p:spPr>
          <a:xfrm>
            <a:off x="457200" y="3611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Observations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457200" y="3913632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loss decreases steadily in both models — learning is happening correctly
</a:t>
            </a: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loss initially high then decreases — small dataset causes instability (only ~25 val images)
</a:t>
            </a: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 accuracy reaches ~60-75% — reasonable given only 375 total images
</a:t>
            </a: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EarlyStopping with patience=10 prevents severe overfitting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Confusion Matrices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13232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4114800" cy="3200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74320" y="86868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CNN  |  Accuracy: 77.68%</a:t>
            </a:r>
            <a:endParaRPr lang="en-US" sz="12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74320" y="1207008"/>
            <a:ext cx="4114800" cy="29260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663440" y="868680"/>
            <a:ext cx="4114800" cy="320040"/>
          </a:xfrm>
          <a:prstGeom prst="rect">
            <a:avLst/>
          </a:prstGeom>
          <a:solidFill>
            <a:srgbClr val="065F46"/>
          </a:solidFill>
          <a:ln w="12700">
            <a:solidFill>
              <a:srgbClr val="065F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4663440" y="86868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 CNN  |  Accuracy: 78.13%</a:t>
            </a:r>
            <a:endParaRPr lang="en-US" sz="120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63440" y="1207008"/>
            <a:ext cx="4114800" cy="292608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274320" y="4224528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CNN: Akbar=97.3% ✓  |  Dilkash=45.3% (confused with Urooj)  |  Urooj=91.9% ✓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4663440" y="4224528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 CNN: Akbar=93.2% ✓  |  Dilkash=52.0% (still hardest)  |  Urooj=90.5% ✓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274320" y="4626864"/>
            <a:ext cx="8503920" cy="347472"/>
          </a:xfrm>
          <a:prstGeom prst="rect">
            <a:avLst/>
          </a:prstGeom>
          <a:solidFill>
            <a:srgbClr val="FFF7ED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365760" y="4663440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Dilkash is the hardest class — frequently confused with Urooj due to similar elongated shape in both models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7472" y="7162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Attention CNN Outperforms Others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47472" y="601980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256032" y="757428"/>
            <a:ext cx="5303520" cy="1234440"/>
          </a:xfrm>
          <a:prstGeom prst="rect">
            <a:avLst/>
          </a:prstGeom>
          <a:solidFill>
            <a:srgbClr val="F0FDF4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47472" y="803148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Block (Squeeze-and-Excitation Attention)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47472" y="1123188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GlobalAvgPool → Reshape → Dense(filters/8, ReLU) → Dense(filters, Sigmoid) → Channel-wise Multiply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47472" y="1534668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Recalibrates feature maps — tells the model WHICH channels matter most for classification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742432" y="757428"/>
            <a:ext cx="3017520" cy="12344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742432" y="803148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Best Pre-trained (VGG16)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742432" y="1095756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+22.5%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
</a:t>
            </a: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+22.6%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F1-score
</a:t>
            </a: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+12.1%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56032" y="2129028"/>
            <a:ext cx="411480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56032" y="2129028"/>
            <a:ext cx="109728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57200" y="220218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Channel Attention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2522220"/>
            <a:ext cx="3840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blocks learn to weight important feature channels — e.g., focusing on texture &amp; color channels that differ between Akbar, Dilkash, and Urooj.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645152" y="2129028"/>
            <a:ext cx="411480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645152" y="2129028"/>
            <a:ext cx="91442" cy="1170432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846320" y="220218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Trained from Scratch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846320" y="2522220"/>
            <a:ext cx="3840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Pre-trained models (ResNet, VGG, EfficientNet) were trained on ImageNet (objects, not seeds). Custom models learn wheat-specific features directly.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56032" y="3454908"/>
            <a:ext cx="41148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256032" y="3454908"/>
            <a:ext cx="109728" cy="102412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57200" y="352806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Right-Sized Architecture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48056" y="3797808"/>
            <a:ext cx="3840480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64×64 input + 3 conv blocks is appropriately scaled for 375 images. Pre-trained models with 224×224 and millions of params overfit on such small data.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626864" y="3450336"/>
            <a:ext cx="41148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4645150" y="3450336"/>
            <a:ext cx="91442" cy="1051560"/>
          </a:xfrm>
          <a:prstGeom prst="rect">
            <a:avLst/>
          </a:prstGeom>
          <a:solidFill>
            <a:srgbClr val="065F46"/>
          </a:solidFill>
          <a:ln w="12700">
            <a:solidFill>
              <a:srgbClr val="065F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828032" y="3523488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Data Augmentation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818888" y="3774948"/>
            <a:ext cx="3840480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3 &amp; 4 apply 6 augmentation techniques (flip, rotation, zoom, shift, brightness). Pre-trained models in Task 2 had no augmentation.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274320" y="4634484"/>
            <a:ext cx="8503920" cy="4495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347472" y="4698492"/>
            <a:ext cx="8321040" cy="3154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Conclusion: Attention CNN is the best model — combining the right architecture size, SE attention, and augmentation for this small wheat seed dataset.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749040" y="365760"/>
            <a:ext cx="16459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dirty="0">
                <a:solidFill>
                  <a:srgbClr val="000000"/>
                </a:solidFill>
              </a:rPr>
              <a:t>🌾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365760" y="155448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365760" y="233172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Wheat Seeds Classification — CSE366 AI Mini Project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286000" y="2880360"/>
            <a:ext cx="457200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301752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3566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GitHub: https://github.com/subhanishat89-spec/Wheat-Seed-EDA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84</TotalTime>
  <Words>964</Words>
  <Application>Microsoft Office PowerPoint</Application>
  <PresentationFormat>On-screen Show (16:9)</PresentationFormat>
  <Paragraphs>173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Wheat Seeds Classification — CSE366 AI Project</dc:title>
  <dc:subject>PptxGenJS Presentation</dc:subject>
  <dc:creator>PptxGenJS</dc:creator>
  <cp:lastModifiedBy>Nabiha Nasher</cp:lastModifiedBy>
  <cp:revision>2</cp:revision>
  <dcterms:created xsi:type="dcterms:W3CDTF">2026-04-18T16:44:10Z</dcterms:created>
  <dcterms:modified xsi:type="dcterms:W3CDTF">2026-04-19T15:11:29Z</dcterms:modified>
</cp:coreProperties>
</file>